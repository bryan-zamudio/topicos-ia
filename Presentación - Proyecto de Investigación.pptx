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Porcentaje de agua desperdiciada por país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agua desperdiciada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23A2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Alemania</c:v>
                  </c:pt>
                  <c:pt idx="1">
                    <c:v>Dinamarca</c:v>
                  </c:pt>
                  <c:pt idx="2">
                    <c:v>Países Bajos</c:v>
                  </c:pt>
                  <c:pt idx="3">
                    <c:v>China</c:v>
                  </c:pt>
                  <c:pt idx="4">
                    <c:v>Estados Unidos</c:v>
                  </c:pt>
                  <c:pt idx="5">
                    <c:v>Brasil</c:v>
                  </c:pt>
                  <c:pt idx="6">
                    <c:v>Nigeria</c:v>
                  </c:pt>
                  <c:pt idx="7">
                    <c:v>México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</c:v>
                </c:pt>
                <c:pt idx="1">
                  <c:v>7</c:v>
                </c:pt>
                <c:pt idx="2">
                  <c:v>5</c:v>
                </c:pt>
                <c:pt idx="3">
                  <c:v>21</c:v>
                </c:pt>
                <c:pt idx="4">
                  <c:v>20</c:v>
                </c:pt>
                <c:pt idx="5">
                  <c:v>39</c:v>
                </c:pt>
                <c:pt idx="6">
                  <c:v>39</c:v>
                </c:pt>
                <c:pt idx="7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200000"/>
          <a:lstStyle/>
          <a:p>
            <a:pPr>
              <a:defRPr sz="10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pic>
        <p:nvPicPr>
          <p:cNvPr id="5" name="Image 0" descr="../docx_unpacked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3429000" cy="1152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· CAMPUS CULIACÁN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Tópicos de Inteligencia Artificial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88036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Predictivo Basado en Random Forest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la Detección de Fugas en Redes de Agua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Investigación: Inteligencia Artificial e Impacto Ambiental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" y="516636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5349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6235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Sarabia Guzmán Jesús Aldhair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Zamudio Lizárraga Bryan Martín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pérdida masiva de agua potable en redes subterráneas es una de las mayores problemáticas ecológicas actuales. 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parte del agua tratada nunca llega al consumidor: es 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no contabilizada.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desperdicio crónico provoca sobreexplotación de mantos acuíferos, gasto energético innecesario en bombeo y riesgo de socavamiento urbano.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6126480" cy="1417320"/>
          </a:xfrm>
          <a:prstGeom prst="roundRect">
            <a:avLst>
              <a:gd name="adj" fmla="val 6452"/>
            </a:avLst>
          </a:prstGeom>
          <a:solidFill>
            <a:srgbClr val="E8F1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023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métodos tradicionales (inspección acústica, gas trazador, georradar) son costosos, lentos e inviables para una cobertura continua en toda la ciudad.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5486400"/>
            <a:ext cx="612648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557784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Machine Learning procesa presión y caudal para generar alertas oportunas, combinando clasificadores supervisados con simuladores hidráulicos como EPANET.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95160" y="1234440"/>
            <a:ext cx="4617720" cy="233172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95160" y="141732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 – 50%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33172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agua potable se desperdicia en países en desarrollo, particularmente en México, por fracturas no detectadas a tiempo.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95160" y="3794760"/>
            <a:ext cx="4617720" cy="2651760"/>
          </a:xfrm>
          <a:prstGeom prst="roundRect">
            <a:avLst>
              <a:gd name="adj" fmla="val 4138"/>
            </a:avLst>
          </a:prstGeom>
          <a:solidFill>
            <a:srgbClr val="E8F1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23760" y="3977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 difícil detectar fugas?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4434840"/>
            <a:ext cx="42062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Tuberías enterradas: inspección visual inviable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limitada de sensores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costo de métodos físicos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Predictivo Random Forest para Detección de Fugas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Diseñar un sistema de </a:t>
            </a:r>
            <a:pPr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 y detección temprana de fugas de agua</a:t>
            </a:r>
            <a:pPr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basado en el algoritmo </a:t>
            </a:r>
            <a:pPr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pPr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 modelos de simulación hidráulica en </a:t>
            </a:r>
            <a:pPr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EPANET</a:t>
            </a:r>
            <a:pPr indent="0" marL="0">
              <a:lnSpc>
                <a:spcPct val="130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con el fin de optimizar la localización de anomalías en redes urbanas y mitigar el desperdicio del recurso hídrico.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470916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4846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2578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Anomalías de presión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caudal en tiempo real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470916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80560" y="4846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52578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cuadrante o sector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 afectado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470916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92440" y="48463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52578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desperdicio del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hídrico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Predictivo Random Forest para Detección de Fugas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8F1F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819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Analizar el estado del arte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94560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Contrastar técnicas tradicionales frente a modelos de aprendizaje automático supervisado.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8F1F5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6002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15819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Generar escenarios en EPANET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194560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caídas de presión y variaciones de flujo en condiciones normales y de ruptura, sin alterar la red física.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8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2519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233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 y validar Random Forest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846320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eventos normales de fugas y clasificar el cuadrante o zona afectada a partir de lecturas nodales de presión.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397764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E8F1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0" y="42519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423367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Diseñar una interfaz visual amigable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4846320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a los operadores de agua monitorear la red e interpretar alertas tempranas de manera directa.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Predictivo Random Forest para Detección de Fugas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Justificación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desperdicio de agua potable a nivel global evidencia la necesidad de herramientas predictivas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69494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508760"/>
            <a:ext cx="3977640" cy="2286000"/>
          </a:xfrm>
          <a:prstGeom prst="roundRect">
            <a:avLst>
              <a:gd name="adj" fmla="val 4800"/>
            </a:avLst>
          </a:prstGeom>
          <a:solidFill>
            <a:srgbClr val="B23A2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920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8346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BD9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agua distribuida se pierde: más de 12.4 millones de m³ diarios.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35240" y="39776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8F1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63840" y="4114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Chihuahua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43484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física del 52% — se pierde el 48% del suministro inyectado en regiones críticas del norte del país.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35240" y="5623560"/>
            <a:ext cx="3977640" cy="777240"/>
          </a:xfrm>
          <a:prstGeom prst="roundRect">
            <a:avLst>
              <a:gd name="adj" fmla="val 11765"/>
            </a:avLst>
          </a:prstGeom>
          <a:solidFill>
            <a:srgbClr val="21295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18120" y="566928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reduce la detección de semanas a horas, aprovechando la infraestructura existente.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Liemberger y Wyatt, citado en Burciaga et al. (2026)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1188720"/>
          </a:xfrm>
          <a:prstGeom prst="roundRect">
            <a:avLst>
              <a:gd name="adj" fmla="val 7692"/>
            </a:avLst>
          </a:prstGeom>
          <a:solidFill>
            <a:srgbClr val="E8F1F5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7335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08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y simulación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0195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hidráulico de referencia en EPANET (software libre) para obtener series temporales de flujo y presión en distintos escenarios.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6583680" cy="1188720"/>
          </a:xfrm>
          <a:prstGeom prst="roundRect">
            <a:avLst>
              <a:gd name="adj" fmla="val 7692"/>
            </a:avLst>
          </a:prstGeom>
          <a:solidFill>
            <a:srgbClr val="E8F1F5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09067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90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26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Tratamiento algorítmico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31927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con scikit-learn y pandas: clasificación binaria (Fuga / Sin fuga) y zonificación del sector afectado.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6583680" cy="1188720"/>
          </a:xfrm>
          <a:prstGeom prst="roundRect">
            <a:avLst>
              <a:gd name="adj" fmla="val 7692"/>
            </a:avLst>
          </a:prstGeom>
          <a:solidFill>
            <a:srgbClr val="E8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50799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507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343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 computacional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73659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ligera en hardware estándar (CPU multinúcleo, 8 GB RAM) con interfaz web básica de visualización.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715000"/>
            <a:ext cx="6583680" cy="822960"/>
          </a:xfrm>
          <a:prstGeom prst="roundRect">
            <a:avLst>
              <a:gd name="adj" fmla="val 11111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5779008"/>
            <a:ext cx="6126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Límites: no contempla excavación física, reparación mecánica de tuberías ni fabricación de nuevo instrumental electrónico.</a:t>
            </a:r>
            <a:endParaRPr lang="en-US" sz="1150" dirty="0"/>
          </a:p>
        </p:txBody>
      </p:sp>
      <p:pic>
        <p:nvPicPr>
          <p:cNvPr id="20" name="Image 0" descr="diagrama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371600"/>
            <a:ext cx="4434840" cy="330098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452360" y="47548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moderno de distribución de agua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Predictivo Random Forest para Detección de Fugas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Desafíos en el Monitoreo Hidráulico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065A82">
              <a:alpha val="8000"/>
            </a:srgbClr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361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no visible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enterramiento de las redes impide la inspección visual oportuna.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065A82">
              <a:alpha val="8000"/>
            </a:srgbClr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1554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15361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Sensores nodales limitados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1488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sensores en cada cruce es inviable por costos de instalación y mantenimiento.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065A82">
              <a:alpha val="8000"/>
            </a:srgbClr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0050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Confusión por consumo pico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177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grifos abiertos generan caídas de presión similares a fisuras, causando falsas alarmas.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749040"/>
            <a:ext cx="5394960" cy="2148840"/>
          </a:xfrm>
          <a:prstGeom prst="roundRect">
            <a:avLst>
              <a:gd name="adj" fmla="val 4255"/>
            </a:avLst>
          </a:prstGeom>
          <a:solidFill>
            <a:srgbClr val="065A82">
              <a:alpha val="8000"/>
            </a:srgbClr>
          </a:solidFill>
          <a:ln w="9525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40050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Ruido entre sectores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6177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Vibraciones ambientales y conexión hidráulica alteran lecturas de zonas vecinas.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Predictivo Random Forest para Detección de Fugas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del Estado del Arte en IA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supervisados 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Forest, Árboles de Decisión, ANN) alcanzan precisiones entre 95% y 100% en condiciones controladas </a:t>
            </a:r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(Adraoui et al., 2024)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2. Desempeño comparativo de modelos con y sin acondicionamiento de datos (Shin et al., 2024)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0607040" cy="3749040"/>
        </p:xfrm>
        <a:graphic>
          <a:graphicData uri="http://schemas.openxmlformats.org/drawingml/2006/table">
            <a:tbl>
              <a:tblPr/>
              <a:tblGrid>
                <a:gridCol w="3017520"/>
                <a:gridCol w="1897380"/>
                <a:gridCol w="1897380"/>
                <a:gridCol w="1897380"/>
                <a:gridCol w="1897380"/>
              </a:tblGrid>
              <a:tr h="4686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Algoritmo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(Sin IA)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(Con IA)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(Sin IA)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150" dirty="0"/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(Con IA)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</a:rPr>
                        <a:t>XGBoost (XGB)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0.9570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0.9827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0.9699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0.9849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</a:rPr>
                        <a:t>Decision Tree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0.9434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0.9827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0.9604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0.9849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Random Forest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0.9558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0.9814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0.9690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0.9838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</a:rPr>
                        <a:t>Extra Trees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0.9530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0.9820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0.9672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0.9844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</a:rPr>
                        <a:t>CatBoost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0.9542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0.9820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0.9680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0.9844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</a:rPr>
                        <a:t>K-Neighbors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0.9558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0.9807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0.9689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0.9833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733"/>
                          </a:solidFill>
                        </a:rPr>
                        <a:t>Logistic Regression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0.8025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0.9801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0.8780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</a:rPr>
                        <a:t>0.9827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8932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resistencia al sobreajuste y estabilidad de los modelos de ensamble basados en árboles justifica el uso de Random Forest frente a modelos lineales como Regresión Logística.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Predictivo Random Forest para Detección de Fugas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Técnica y Flujo de Trabajo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gemelo digital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una red de agua en EPANET para enseñarle a Random Forest cómo se comporta el agua en condiciones normales frente a una ruptura subterránea.</a:t>
            </a:r>
            <a:endParaRPr lang="en-US" sz="1400" dirty="0"/>
          </a:p>
        </p:txBody>
      </p:sp>
      <p:pic>
        <p:nvPicPr>
          <p:cNvPr id="4" name="Image 0" descr="flujo_trabaj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874520"/>
            <a:ext cx="685800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6263640"/>
            <a:ext cx="10607040" cy="457200"/>
          </a:xfrm>
          <a:prstGeom prst="roundRect">
            <a:avLst>
              <a:gd name="adj" fmla="val 16000"/>
            </a:avLst>
          </a:prstGeom>
          <a:solidFill>
            <a:srgbClr val="E8F1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62636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 eligió por su tolerancia al ruido de los sensores, algo muy común en redes reales.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¿En qué consiste exactamente nuestra propuesta?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745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Simulación inteligente (gemelo digital)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recrea la red de distribución en EPANET, simulando años de operación, cambios de demanda y rupturas de varios tamaños en distintos puntos de la ciudad.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977640" y="3291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8745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6060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 del algoritmo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56616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Machine Learning aprende "firmas hidráulicas": patrones sutiles de caída de presión que diferencian el uso cotidiano de una fuga activa.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3291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046720" y="1600200"/>
            <a:ext cx="3429000" cy="4480560"/>
          </a:xfrm>
          <a:prstGeom prst="roundRect">
            <a:avLst>
              <a:gd name="adj" fmla="val 3200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18745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060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Zonificación y alertas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56616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señalar 50 km de red, el sistema clasifica la falla por sectores pequeños y emite una alerta gráfica indicando exactamente qué zona revisar.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Predictivo Random Forest para Detección de Fugas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Trabajo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se organiza en 6 fases a lo largo de 24 semanas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34440" y="3657600"/>
            <a:ext cx="96926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345643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3272" y="3456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6072" y="176479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1–4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057400"/>
            <a:ext cx="131673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documental, análisis de antecedentes y definición de variables de presión y caudal.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3246120"/>
            <a:ext cx="0" cy="41148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971800" y="345643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71800" y="3456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41448" y="406908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14600" y="414223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5–8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4434840"/>
            <a:ext cx="131673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modelo digital de la red y simulación de escenarios de fuga en EPANET.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72968" y="3657600"/>
            <a:ext cx="0" cy="41148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910328" y="345643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10328" y="3456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79976" y="169164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453128" y="176479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9–12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453128" y="2057400"/>
            <a:ext cx="131673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 y estructuración del conjunto de datos en Python.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11496" y="3246120"/>
            <a:ext cx="0" cy="41148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848856" y="345643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48856" y="3456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18504" y="406908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91656" y="414223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13–17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391656" y="4434840"/>
            <a:ext cx="131673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Entrenamiento, ajuste de parámetros y validación del modelo Random Forest.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50024" y="3657600"/>
            <a:ext cx="0" cy="41148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8787384" y="345643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87384" y="3456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57032" y="169164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30184" y="176479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18–21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330184" y="2057400"/>
            <a:ext cx="131673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 integración de la interfaz web básica para monitoreo visual de alertas.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988552" y="3246120"/>
            <a:ext cx="0" cy="41148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0725912" y="345643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725912" y="3456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195560" y="4069080"/>
            <a:ext cx="1463040" cy="1554480"/>
          </a:xfrm>
          <a:prstGeom prst="roundRect">
            <a:avLst>
              <a:gd name="adj" fmla="val 5000"/>
            </a:avLst>
          </a:prstGeom>
          <a:solidFill>
            <a:srgbClr val="E8F1F5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268712" y="4142232"/>
            <a:ext cx="1316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22–24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0268712" y="4434840"/>
            <a:ext cx="1316736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integrales de desempeño, redacción del documento final y preparación de diapositivas.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927080" y="3657600"/>
            <a:ext cx="0" cy="41148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Predictivo Random Forest para Detección de Fugas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27048"/>
            <a:ext cx="10195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pérdida de agua potable en redes subterráneas es una problemática ecológica crítica que no puede resolverse con métodos visuales o tradicionales.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715768"/>
            <a:ext cx="10195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EPANET junto a modelos de aprendizaje automático supervisado constituye una alternativa accesible y fundamentada.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904488"/>
            <a:ext cx="10195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demuestra ser una elección robusta por su capacidad para manejar el ruido de los sensores en tuberías.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093208"/>
            <a:ext cx="10195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propuesta, basada en librerías estándar y computación convencional, es técnica y económicamente factible para organismos operadores locales.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Predictivo Random Forest para Detección de Fugas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1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Burciaga, A. H. N., Santillán, J. R. L., &amp; Gurrola, L. C. G. (2026). Del dato a la gota: uso de Inteligencia Artificial para la detección de fugas de agua en Chihuahua. Ciencia Vital, 4(2), 1-8.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4E9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69748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Adraoui, M., Azmi, R., Chenal, J., Diop, E. B., Abdem, S. A. E., Serbouti, I., Hlal, M., &amp; Bounabi, M. (2024). A two-phase approach for leak detection and localization in water distribution systems using wavelet decomposition and machine learning. Computers &amp; Industrial Engineering, 197, 110534.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8F1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9319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Mashhadi, N., Shahrour, I., Attoue, N., Khattabi, J. E., &amp; Aljer, A. (2021). Use of Machine Learning for Leak Detection and Localization in Water Distribution Systems. Smart Cities, 4(4), 1293-1315.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4E9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16636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Shin, Y., Na, K. Y., Kim, S. E., Kyung, E. J., Choi, H. G., &amp; Jeong, J. (2024). LSTM-Autoencoder Based Detection of Time-Series Noise Signals for Water Supply and Sewer Pipe Leakages. Water, 16(18), 2631.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Predictivo Random Forest para Detección de Fugas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2026-09-18T04:19:01Z</dcterms:created>
  <dcterms:modified xsi:type="dcterms:W3CDTF">2026-09-18T04:19:01Z</dcterms:modified>
</cp:coreProperties>
</file>